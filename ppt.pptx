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20"/>
  </p:notesMasterIdLst>
  <p:sldIdLst>
    <p:sldId id="283" r:id="rId2"/>
    <p:sldId id="257" r:id="rId3"/>
    <p:sldId id="282" r:id="rId4"/>
    <p:sldId id="284" r:id="rId5"/>
    <p:sldId id="285" r:id="rId6"/>
    <p:sldId id="281" r:id="rId7"/>
    <p:sldId id="262" r:id="rId8"/>
    <p:sldId id="291" r:id="rId9"/>
    <p:sldId id="292" r:id="rId10"/>
    <p:sldId id="293" r:id="rId11"/>
    <p:sldId id="294" r:id="rId12"/>
    <p:sldId id="295" r:id="rId13"/>
    <p:sldId id="290" r:id="rId14"/>
    <p:sldId id="289" r:id="rId15"/>
    <p:sldId id="287" r:id="rId16"/>
    <p:sldId id="277" r:id="rId17"/>
    <p:sldId id="280" r:id="rId18"/>
    <p:sldId id="276" r:id="rId19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27" roundtripDataSignature="AMtx7mjt3491jQ7aCoyIz2WXeHKroE7tp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0AAD8F4D-43EB-41E5-8A38-28AB6DFB1B60}">
  <a:tblStyle styleId="{0AAD8F4D-43EB-41E5-8A38-28AB6DFB1B60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86"/>
  </p:normalViewPr>
  <p:slideViewPr>
    <p:cSldViewPr snapToGrid="0">
      <p:cViewPr varScale="1">
        <p:scale>
          <a:sx n="62" d="100"/>
          <a:sy n="62" d="100"/>
        </p:scale>
        <p:origin x="80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7" Type="http://customschemas.google.com/relationships/presentationmetadata" Target="metadata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89" name="Google Shape;8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48C2B95B-FB15-C156-6AF1-35B3581816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>
            <a:extLst>
              <a:ext uri="{FF2B5EF4-FFF2-40B4-BE49-F238E27FC236}">
                <a16:creationId xmlns:a16="http://schemas.microsoft.com/office/drawing/2014/main" id="{770A13E9-BC77-63DA-E106-A3FA8022811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:notes">
            <a:extLst>
              <a:ext uri="{FF2B5EF4-FFF2-40B4-BE49-F238E27FC236}">
                <a16:creationId xmlns:a16="http://schemas.microsoft.com/office/drawing/2014/main" id="{29067B0F-2F4F-7081-A661-0AE31BFBB78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60554109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20A8E369-C804-D8D2-383B-03E8A5478F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>
            <a:extLst>
              <a:ext uri="{FF2B5EF4-FFF2-40B4-BE49-F238E27FC236}">
                <a16:creationId xmlns:a16="http://schemas.microsoft.com/office/drawing/2014/main" id="{168FC73D-F867-8E13-0025-1B40818921D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:notes">
            <a:extLst>
              <a:ext uri="{FF2B5EF4-FFF2-40B4-BE49-F238E27FC236}">
                <a16:creationId xmlns:a16="http://schemas.microsoft.com/office/drawing/2014/main" id="{449581B4-9B47-7782-B749-078618A6E57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0515133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E37D20EF-0791-5303-F96E-0F0C1B50B7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>
            <a:extLst>
              <a:ext uri="{FF2B5EF4-FFF2-40B4-BE49-F238E27FC236}">
                <a16:creationId xmlns:a16="http://schemas.microsoft.com/office/drawing/2014/main" id="{9DCBA8EB-6D71-7B5E-841C-4BFFBDA5F1B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:notes">
            <a:extLst>
              <a:ext uri="{FF2B5EF4-FFF2-40B4-BE49-F238E27FC236}">
                <a16:creationId xmlns:a16="http://schemas.microsoft.com/office/drawing/2014/main" id="{5C2CD162-5BE5-06C8-E06C-B4A49D4BCFF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33135405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>
          <a:extLst>
            <a:ext uri="{FF2B5EF4-FFF2-40B4-BE49-F238E27FC236}">
              <a16:creationId xmlns:a16="http://schemas.microsoft.com/office/drawing/2014/main" id="{59B870D7-ED5B-C7CD-FB99-2991954CAA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5:notes">
            <a:extLst>
              <a:ext uri="{FF2B5EF4-FFF2-40B4-BE49-F238E27FC236}">
                <a16:creationId xmlns:a16="http://schemas.microsoft.com/office/drawing/2014/main" id="{C8B270BB-F67C-52E3-249C-6FE0C237CA9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" name="Google Shape;130;p5:notes">
            <a:extLst>
              <a:ext uri="{FF2B5EF4-FFF2-40B4-BE49-F238E27FC236}">
                <a16:creationId xmlns:a16="http://schemas.microsoft.com/office/drawing/2014/main" id="{151B863E-6240-36E9-EB23-2DAA667D251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7985781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>
          <a:extLst>
            <a:ext uri="{FF2B5EF4-FFF2-40B4-BE49-F238E27FC236}">
              <a16:creationId xmlns:a16="http://schemas.microsoft.com/office/drawing/2014/main" id="{6FF8E929-CC80-FA0E-5CE8-F87A696455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>
            <a:extLst>
              <a:ext uri="{FF2B5EF4-FFF2-40B4-BE49-F238E27FC236}">
                <a16:creationId xmlns:a16="http://schemas.microsoft.com/office/drawing/2014/main" id="{866D4E98-DFB8-FD9A-D05D-88B7F069524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7:notes">
            <a:extLst>
              <a:ext uri="{FF2B5EF4-FFF2-40B4-BE49-F238E27FC236}">
                <a16:creationId xmlns:a16="http://schemas.microsoft.com/office/drawing/2014/main" id="{8459D3DC-D64D-575D-A644-0C7B750CD42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21984147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>
          <a:extLst>
            <a:ext uri="{FF2B5EF4-FFF2-40B4-BE49-F238E27FC236}">
              <a16:creationId xmlns:a16="http://schemas.microsoft.com/office/drawing/2014/main" id="{2EC954C3-BEE3-98A3-A0D9-8B2884249E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>
            <a:extLst>
              <a:ext uri="{FF2B5EF4-FFF2-40B4-BE49-F238E27FC236}">
                <a16:creationId xmlns:a16="http://schemas.microsoft.com/office/drawing/2014/main" id="{186E1E22-5EF4-1C23-7106-370A056D19C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7:notes">
            <a:extLst>
              <a:ext uri="{FF2B5EF4-FFF2-40B4-BE49-F238E27FC236}">
                <a16:creationId xmlns:a16="http://schemas.microsoft.com/office/drawing/2014/main" id="{BD9E31C9-EB36-BD3E-C000-7AF8DA850F8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7629044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>
          <a:extLst>
            <a:ext uri="{FF2B5EF4-FFF2-40B4-BE49-F238E27FC236}">
              <a16:creationId xmlns:a16="http://schemas.microsoft.com/office/drawing/2014/main" id="{74B1C5F3-CC9B-AF5A-3931-7276FDE423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>
            <a:extLst>
              <a:ext uri="{FF2B5EF4-FFF2-40B4-BE49-F238E27FC236}">
                <a16:creationId xmlns:a16="http://schemas.microsoft.com/office/drawing/2014/main" id="{E21BDF28-CCA8-0FBF-CCA1-487A6A7ACE0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7:notes">
            <a:extLst>
              <a:ext uri="{FF2B5EF4-FFF2-40B4-BE49-F238E27FC236}">
                <a16:creationId xmlns:a16="http://schemas.microsoft.com/office/drawing/2014/main" id="{B2AE94A0-F08F-2E1F-575F-053D34BA86A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49728841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>
          <a:extLst>
            <a:ext uri="{FF2B5EF4-FFF2-40B4-BE49-F238E27FC236}">
              <a16:creationId xmlns:a16="http://schemas.microsoft.com/office/drawing/2014/main" id="{B73CBC45-5F7F-D3AB-BA5B-979C102D87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>
            <a:extLst>
              <a:ext uri="{FF2B5EF4-FFF2-40B4-BE49-F238E27FC236}">
                <a16:creationId xmlns:a16="http://schemas.microsoft.com/office/drawing/2014/main" id="{634C00B4-085C-C4F2-EFF3-9E3B3E8F531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7:notes">
            <a:extLst>
              <a:ext uri="{FF2B5EF4-FFF2-40B4-BE49-F238E27FC236}">
                <a16:creationId xmlns:a16="http://schemas.microsoft.com/office/drawing/2014/main" id="{841393B5-36A4-36B0-C982-8C06E861124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7945452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>
          <a:extLst>
            <a:ext uri="{FF2B5EF4-FFF2-40B4-BE49-F238E27FC236}">
              <a16:creationId xmlns:a16="http://schemas.microsoft.com/office/drawing/2014/main" id="{15FBF41F-E5BF-DE57-B466-D0CF9117F7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>
            <a:extLst>
              <a:ext uri="{FF2B5EF4-FFF2-40B4-BE49-F238E27FC236}">
                <a16:creationId xmlns:a16="http://schemas.microsoft.com/office/drawing/2014/main" id="{835348B1-2CD2-BEFB-5EFD-87B4D194291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7:notes">
            <a:extLst>
              <a:ext uri="{FF2B5EF4-FFF2-40B4-BE49-F238E27FC236}">
                <a16:creationId xmlns:a16="http://schemas.microsoft.com/office/drawing/2014/main" id="{24727E68-34A2-2D89-A9EA-A5EFDB11E7D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8534756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>
          <a:extLst>
            <a:ext uri="{FF2B5EF4-FFF2-40B4-BE49-F238E27FC236}">
              <a16:creationId xmlns:a16="http://schemas.microsoft.com/office/drawing/2014/main" id="{2AE378EF-68E6-96BE-DE6A-8FE2F02C58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>
            <a:extLst>
              <a:ext uri="{FF2B5EF4-FFF2-40B4-BE49-F238E27FC236}">
                <a16:creationId xmlns:a16="http://schemas.microsoft.com/office/drawing/2014/main" id="{B774923E-1E78-A570-D64D-F54E19B6499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7:notes">
            <a:extLst>
              <a:ext uri="{FF2B5EF4-FFF2-40B4-BE49-F238E27FC236}">
                <a16:creationId xmlns:a16="http://schemas.microsoft.com/office/drawing/2014/main" id="{26013F14-ED2A-2BBE-85E6-D7E15F09A01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89178039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>
          <a:extLst>
            <a:ext uri="{FF2B5EF4-FFF2-40B4-BE49-F238E27FC236}">
              <a16:creationId xmlns:a16="http://schemas.microsoft.com/office/drawing/2014/main" id="{988B6965-E243-257D-DE11-DEDCCDB1F6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>
            <a:extLst>
              <a:ext uri="{FF2B5EF4-FFF2-40B4-BE49-F238E27FC236}">
                <a16:creationId xmlns:a16="http://schemas.microsoft.com/office/drawing/2014/main" id="{EC029F56-6FA3-FC95-7657-C7A8D6A5E9C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7:notes">
            <a:extLst>
              <a:ext uri="{FF2B5EF4-FFF2-40B4-BE49-F238E27FC236}">
                <a16:creationId xmlns:a16="http://schemas.microsoft.com/office/drawing/2014/main" id="{AEE2F2AD-7FB4-A163-6B95-6C9CA7897BC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82738166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>
          <a:extLst>
            <a:ext uri="{FF2B5EF4-FFF2-40B4-BE49-F238E27FC236}">
              <a16:creationId xmlns:a16="http://schemas.microsoft.com/office/drawing/2014/main" id="{0983841B-F77C-692A-8854-3913DB079C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0:notes">
            <a:extLst>
              <a:ext uri="{FF2B5EF4-FFF2-40B4-BE49-F238E27FC236}">
                <a16:creationId xmlns:a16="http://schemas.microsoft.com/office/drawing/2014/main" id="{755B5128-6CFE-4359-ACEE-18F700E293E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p10:notes">
            <a:extLst>
              <a:ext uri="{FF2B5EF4-FFF2-40B4-BE49-F238E27FC236}">
                <a16:creationId xmlns:a16="http://schemas.microsoft.com/office/drawing/2014/main" id="{F9B0EB32-EA94-0306-EC77-0D616A79CF3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42101007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:a16="http://schemas.microsoft.com/office/drawing/2014/main" id="{FB18EFA4-CD13-16C4-504B-6DB7E86CE0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>
            <a:extLst>
              <a:ext uri="{FF2B5EF4-FFF2-40B4-BE49-F238E27FC236}">
                <a16:creationId xmlns:a16="http://schemas.microsoft.com/office/drawing/2014/main" id="{E8E16183-6BFA-E60A-1235-F3BFB1B1F6E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8:notes">
            <a:extLst>
              <a:ext uri="{FF2B5EF4-FFF2-40B4-BE49-F238E27FC236}">
                <a16:creationId xmlns:a16="http://schemas.microsoft.com/office/drawing/2014/main" id="{C4420B06-3455-3F20-5E28-90535F24DA2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96517532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:a16="http://schemas.microsoft.com/office/drawing/2014/main" id="{466C47D1-19F6-52AF-3914-DD3C990589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>
            <a:extLst>
              <a:ext uri="{FF2B5EF4-FFF2-40B4-BE49-F238E27FC236}">
                <a16:creationId xmlns:a16="http://schemas.microsoft.com/office/drawing/2014/main" id="{ACA1F779-4C2B-4CD1-FBDD-A40F0A32234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8:notes">
            <a:extLst>
              <a:ext uri="{FF2B5EF4-FFF2-40B4-BE49-F238E27FC236}">
                <a16:creationId xmlns:a16="http://schemas.microsoft.com/office/drawing/2014/main" id="{40004D30-6E86-E263-D5DA-7577B1C759B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2216939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5" name="Google Shape;305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4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24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2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2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25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2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2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2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6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26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9" name="Google Shape;39;p26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26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26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2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2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2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2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2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2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2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29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29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8" name="Google Shape;58;p2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2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30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30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5" name="Google Shape;65;p3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3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3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31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3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3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3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2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32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3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3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3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2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MJKING1276/ResearchPilot-researchagent-ibm" TargetMode="Externa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F97BF8-B3EC-77A2-9BFD-D66830272D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6600" b="1" dirty="0"/>
              <a:t>IBM University Engagement Project Submission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AB85A1-2169-FF43-3E91-E2E8ADA742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14730" y="3903663"/>
            <a:ext cx="10515600" cy="1500187"/>
          </a:xfrm>
        </p:spPr>
        <p:txBody>
          <a:bodyPr/>
          <a:lstStyle/>
          <a:p>
            <a:pPr algn="ctr"/>
            <a:r>
              <a:rPr lang="en-US" b="1" i="1" dirty="0"/>
              <a:t>“Exploring the Power of Agentic AI with IBM Granite and </a:t>
            </a:r>
            <a:r>
              <a:rPr lang="en-US" b="1" i="1" dirty="0" err="1"/>
              <a:t>LangFlow</a:t>
            </a:r>
            <a:r>
              <a:rPr lang="en-US" b="1" i="1" dirty="0"/>
              <a:t>”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575646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"/>
          <p:cNvSpPr/>
          <p:nvPr/>
        </p:nvSpPr>
        <p:spPr>
          <a:xfrm>
            <a:off x="690624" y="4425370"/>
            <a:ext cx="10795794" cy="199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</a:pPr>
            <a:endParaRPr sz="15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5" name="Google Shape;95;p2"/>
          <p:cNvSpPr txBox="1"/>
          <p:nvPr/>
        </p:nvSpPr>
        <p:spPr>
          <a:xfrm>
            <a:off x="1102321" y="1174639"/>
            <a:ext cx="7426406" cy="4515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200"/>
              <a:buFont typeface="Times New Roman"/>
              <a:buNone/>
            </a:pPr>
            <a:endParaRPr sz="3200" b="1" i="0" u="none" strike="noStrike" cap="none" dirty="0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96" name="Google Shape;96;p2"/>
          <p:cNvGraphicFramePr/>
          <p:nvPr>
            <p:extLst>
              <p:ext uri="{D42A27DB-BD31-4B8C-83A1-F6EECF244321}">
                <p14:modId xmlns:p14="http://schemas.microsoft.com/office/powerpoint/2010/main" val="2876473578"/>
              </p:ext>
            </p:extLst>
          </p:nvPr>
        </p:nvGraphicFramePr>
        <p:xfrm>
          <a:off x="1299257" y="2600315"/>
          <a:ext cx="9394989" cy="2167128"/>
        </p:xfrm>
        <a:graphic>
          <a:graphicData uri="http://schemas.openxmlformats.org/drawingml/2006/table">
            <a:tbl>
              <a:tblPr>
                <a:noFill/>
                <a:tableStyleId>{0AAD8F4D-43EB-41E5-8A38-28AB6DFB1B60}</a:tableStyleId>
              </a:tblPr>
              <a:tblGrid>
                <a:gridCol w="20648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4337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4337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44337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973237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 dirty="0"/>
                        <a:t>Student Name</a:t>
                      </a:r>
                      <a:endParaRPr sz="1800" u="none" strike="noStrike" cap="none" dirty="0"/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 dirty="0"/>
                        <a:t>Recent Passport Photo</a:t>
                      </a:r>
                      <a:endParaRPr sz="1800" u="none" strike="noStrike" cap="none" dirty="0"/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Calibri"/>
                          <a:cs typeface="Arial"/>
                          <a:sym typeface="Calibri"/>
                        </a:rPr>
                        <a:t>Email ID </a:t>
                      </a:r>
                      <a:endParaRPr sz="1800" b="0" i="0" u="none" strike="noStrike" cap="none" dirty="0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Calibri"/>
                          <a:cs typeface="Arial"/>
                          <a:sym typeface="Calibri"/>
                        </a:rPr>
                        <a:t>Mobile number</a:t>
                      </a:r>
                      <a:endParaRPr sz="1800" b="0" i="0" u="none" strike="noStrike" cap="none" dirty="0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Calibri"/>
                          <a:cs typeface="Arial"/>
                          <a:sym typeface="Calibri"/>
                        </a:rPr>
                        <a:t>[WhatsApp] </a:t>
                      </a:r>
                      <a:endParaRPr sz="1800" b="0" i="0" u="none" strike="noStrike" cap="none" dirty="0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93891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b="1" baseline="0" dirty="0"/>
                        <a:t>  JHAI.M</a:t>
                      </a:r>
                      <a:endParaRPr sz="2800" b="1" baseline="0" dirty="0"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dirty="0"/>
                    </a:p>
                  </a:txBody>
                  <a:tcPr marL="91450" marR="91450" marT="45725" marB="4572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dirty="0"/>
                        <a:t>kingjhai1276@gmail.com</a:t>
                      </a:r>
                      <a:endParaRPr sz="1600" dirty="0"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dirty="0"/>
                        <a:t>+918248318103</a:t>
                      </a:r>
                      <a:endParaRPr sz="2000" dirty="0"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A828B9EF-C084-F5D4-CA27-75AF7D995640}"/>
              </a:ext>
            </a:extLst>
          </p:cNvPr>
          <p:cNvSpPr txBox="1"/>
          <p:nvPr/>
        </p:nvSpPr>
        <p:spPr>
          <a:xfrm>
            <a:off x="1206164" y="1460724"/>
            <a:ext cx="1028025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Domain of  Project – </a:t>
            </a:r>
            <a:r>
              <a:rPr lang="en-GB" sz="2400" b="1" dirty="0"/>
              <a:t>Education/ Research Assistance</a:t>
            </a:r>
          </a:p>
          <a:p>
            <a:r>
              <a:rPr lang="en-GB" sz="2400" dirty="0">
                <a:highlight>
                  <a:srgbClr val="FFFF00"/>
                </a:highlight>
              </a:rPr>
              <a:t> </a:t>
            </a:r>
            <a:endParaRPr lang="en-IN" sz="2400" b="1" dirty="0">
              <a:highlight>
                <a:srgbClr val="FFFF00"/>
              </a:highlight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D723CA3-EC2D-165A-F109-3759C4E9C8A4}"/>
              </a:ext>
            </a:extLst>
          </p:cNvPr>
          <p:cNvSpPr txBox="1"/>
          <p:nvPr/>
        </p:nvSpPr>
        <p:spPr>
          <a:xfrm>
            <a:off x="1206162" y="551965"/>
            <a:ext cx="958117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Project Tile – </a:t>
            </a:r>
            <a:r>
              <a:rPr lang="en-US" sz="2400" b="1" dirty="0" err="1"/>
              <a:t>ResearchPilot</a:t>
            </a:r>
            <a:endParaRPr lang="en-IN" sz="2400" b="1" dirty="0">
              <a:highlight>
                <a:srgbClr val="FFFF00"/>
              </a:highlight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8C37397-C9F6-A55E-B66F-710832CE7A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10890" y="3636000"/>
            <a:ext cx="813173" cy="105921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F4C0A7C6-2888-EA53-35AB-4072E6B1FD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6F6745E-14BA-0766-CE1E-32E29663832D}"/>
              </a:ext>
            </a:extLst>
          </p:cNvPr>
          <p:cNvSpPr txBox="1"/>
          <p:nvPr/>
        </p:nvSpPr>
        <p:spPr>
          <a:xfrm>
            <a:off x="576072" y="1049775"/>
            <a:ext cx="11013177" cy="62324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en-US" sz="1500" b="1" dirty="0"/>
              <a:t>Problem Statement : </a:t>
            </a:r>
            <a:r>
              <a:rPr lang="en-GB" sz="1500" b="1" dirty="0"/>
              <a:t>Research Agent</a:t>
            </a:r>
            <a:endParaRPr lang="en-US" sz="1500" b="1" dirty="0"/>
          </a:p>
          <a:p>
            <a:pPr fontAlgn="base"/>
            <a:endParaRPr lang="en-US" sz="1500" b="1" dirty="0"/>
          </a:p>
          <a:p>
            <a:pPr fontAlgn="base"/>
            <a:r>
              <a:rPr lang="en-US" sz="1500" b="1" dirty="0"/>
              <a:t>The Challenge</a:t>
            </a:r>
            <a:r>
              <a:rPr lang="en-US" sz="1500" dirty="0"/>
              <a:t> </a:t>
            </a:r>
          </a:p>
          <a:p>
            <a:r>
              <a:rPr lang="en-US" sz="1500" dirty="0"/>
              <a:t>Researchers, students, and academicians spend significant time </a:t>
            </a:r>
            <a:r>
              <a:rPr lang="en-US" sz="1500" b="1" dirty="0"/>
              <a:t>reading lengthy research papers, extracting key insights, understanding methodologies</a:t>
            </a:r>
            <a:r>
              <a:rPr lang="en-US" sz="1500" dirty="0"/>
              <a:t>, and </a:t>
            </a:r>
            <a:r>
              <a:rPr lang="en-US" sz="1500" b="1" dirty="0"/>
              <a:t>comparing findings </a:t>
            </a:r>
            <a:r>
              <a:rPr lang="en-US" sz="1500" dirty="0"/>
              <a:t>across </a:t>
            </a:r>
            <a:r>
              <a:rPr lang="en-US" sz="1500" b="1" dirty="0"/>
              <a:t>multiple publications</a:t>
            </a:r>
            <a:r>
              <a:rPr lang="en-US" sz="1500" dirty="0"/>
              <a:t>. Research information is often scattered across numerous documents, making literature review and knowledge extraction a time-consuming process. Manually searching, summarizing, and analyzing research papers can reduce productivity and slow down innovation.</a:t>
            </a:r>
          </a:p>
          <a:p>
            <a:pPr fontAlgn="base"/>
            <a:endParaRPr lang="en-US" sz="1500" dirty="0"/>
          </a:p>
          <a:p>
            <a:pPr fontAlgn="base"/>
            <a:r>
              <a:rPr lang="en-US" sz="1500" b="1" dirty="0"/>
              <a:t>The Objective</a:t>
            </a:r>
            <a:r>
              <a:rPr lang="en-US" sz="1500" dirty="0"/>
              <a:t> </a:t>
            </a:r>
          </a:p>
          <a:p>
            <a:pPr fontAlgn="base"/>
            <a:r>
              <a:rPr lang="en-US" sz="1500" dirty="0"/>
              <a:t>Build an </a:t>
            </a:r>
            <a:r>
              <a:rPr lang="en-US" sz="1500" b="1" dirty="0"/>
              <a:t>AI-Powered Research Agent</a:t>
            </a:r>
            <a:r>
              <a:rPr lang="en-US" sz="1500" dirty="0"/>
              <a:t> that assists users in exploring and understanding research papers using IBM </a:t>
            </a:r>
            <a:r>
              <a:rPr lang="en-US" sz="1500" dirty="0" err="1"/>
              <a:t>Watsonx</a:t>
            </a:r>
            <a:r>
              <a:rPr lang="en-US" sz="1500" dirty="0"/>
              <a:t> and Granite foundation </a:t>
            </a:r>
            <a:r>
              <a:rPr lang="en-US" sz="1500" dirty="0" err="1"/>
              <a:t>models.The</a:t>
            </a:r>
            <a:r>
              <a:rPr lang="en-US" sz="1500" dirty="0"/>
              <a:t> solution should: </a:t>
            </a:r>
          </a:p>
          <a:p>
            <a:pPr fontAlgn="base"/>
            <a:endParaRPr lang="en-US" dirty="0"/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sz="1600" b="1" dirty="0">
                <a:solidFill>
                  <a:schemeClr val="tx1"/>
                </a:solidFill>
                <a:latin typeface="Arial" panose="020B0604020202020204" pitchFamily="34" charset="0"/>
              </a:rPr>
              <a:t>Evidence-Based Responses</a:t>
            </a:r>
            <a:r>
              <a:rPr lang="en-US" altLang="en-US" sz="1600" dirty="0">
                <a:solidFill>
                  <a:schemeClr val="tx1"/>
                </a:solidFill>
                <a:latin typeface="Arial" panose="020B0604020202020204" pitchFamily="34" charset="0"/>
              </a:rPr>
              <a:t> – Provide answers supported by retrieved document content. 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sz="1600" b="1" dirty="0">
                <a:solidFill>
                  <a:schemeClr val="tx1"/>
                </a:solidFill>
                <a:latin typeface="Arial" panose="020B0604020202020204" pitchFamily="34" charset="0"/>
              </a:rPr>
              <a:t>Research Paper Summarization</a:t>
            </a:r>
            <a:r>
              <a:rPr lang="en-US" altLang="en-US" sz="1600" dirty="0">
                <a:solidFill>
                  <a:schemeClr val="tx1"/>
                </a:solidFill>
                <a:latin typeface="Arial" panose="020B0604020202020204" pitchFamily="34" charset="0"/>
              </a:rPr>
              <a:t> – Generate concise summaries of uploaded research papers. 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sz="1600" b="1" dirty="0">
                <a:solidFill>
                  <a:schemeClr val="tx1"/>
                </a:solidFill>
                <a:latin typeface="Arial" panose="020B0604020202020204" pitchFamily="34" charset="0"/>
              </a:rPr>
              <a:t>Question Answering System</a:t>
            </a:r>
            <a:r>
              <a:rPr lang="en-US" altLang="en-US" sz="1600" dirty="0">
                <a:solidFill>
                  <a:schemeClr val="tx1"/>
                </a:solidFill>
                <a:latin typeface="Arial" panose="020B0604020202020204" pitchFamily="34" charset="0"/>
              </a:rPr>
              <a:t> – Allow users to ask natural language questions about research documents. 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sz="1600" b="1" dirty="0">
                <a:solidFill>
                  <a:schemeClr val="tx1"/>
                </a:solidFill>
                <a:latin typeface="Arial" panose="020B0604020202020204" pitchFamily="34" charset="0"/>
              </a:rPr>
              <a:t>Document Grounded Retrieval</a:t>
            </a:r>
            <a:r>
              <a:rPr lang="en-US" altLang="en-US" sz="1600" dirty="0">
                <a:solidFill>
                  <a:schemeClr val="tx1"/>
                </a:solidFill>
                <a:latin typeface="Arial" panose="020B0604020202020204" pitchFamily="34" charset="0"/>
              </a:rPr>
              <a:t> – Retrieve relevant information from research papers using RAG (Retrieval-Augmented Generation). 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sz="1600" b="1" dirty="0">
                <a:solidFill>
                  <a:schemeClr val="tx1"/>
                </a:solidFill>
                <a:latin typeface="Arial" panose="020B0604020202020204" pitchFamily="34" charset="0"/>
              </a:rPr>
              <a:t>Methodology Extraction</a:t>
            </a:r>
            <a:r>
              <a:rPr lang="en-US" altLang="en-US" sz="1600" dirty="0">
                <a:solidFill>
                  <a:schemeClr val="tx1"/>
                </a:solidFill>
                <a:latin typeface="Arial" panose="020B0604020202020204" pitchFamily="34" charset="0"/>
              </a:rPr>
              <a:t> – Identify and explain research methods used in papers. 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sz="1600" b="1" dirty="0">
                <a:solidFill>
                  <a:schemeClr val="tx1"/>
                </a:solidFill>
                <a:latin typeface="Arial" panose="020B0604020202020204" pitchFamily="34" charset="0"/>
              </a:rPr>
              <a:t>Cross-Paper Analysis</a:t>
            </a:r>
            <a:r>
              <a:rPr lang="en-US" altLang="en-US" sz="1600" dirty="0">
                <a:solidFill>
                  <a:schemeClr val="tx1"/>
                </a:solidFill>
                <a:latin typeface="Arial" panose="020B0604020202020204" pitchFamily="34" charset="0"/>
              </a:rPr>
              <a:t> – Compare concepts, approaches, and findings across multiple papers. 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sz="1600" b="1" dirty="0">
                <a:solidFill>
                  <a:schemeClr val="tx1"/>
                </a:solidFill>
                <a:latin typeface="Arial" panose="020B0604020202020204" pitchFamily="34" charset="0"/>
              </a:rPr>
              <a:t>Research Assistance</a:t>
            </a:r>
            <a:r>
              <a:rPr lang="en-US" altLang="en-US" sz="1600" dirty="0">
                <a:solidFill>
                  <a:schemeClr val="tx1"/>
                </a:solidFill>
                <a:latin typeface="Arial" panose="020B0604020202020204" pitchFamily="34" charset="0"/>
              </a:rPr>
              <a:t> – Help users quickly understand complex research topics and identify future research directions </a:t>
            </a:r>
          </a:p>
          <a:p>
            <a:pPr fontAlgn="base"/>
            <a:endParaRPr lang="en-US" dirty="0"/>
          </a:p>
          <a:p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847FA31-EA47-D27A-9D69-AF50A3080AEC}"/>
              </a:ext>
            </a:extLst>
          </p:cNvPr>
          <p:cNvSpPr txBox="1"/>
          <p:nvPr/>
        </p:nvSpPr>
        <p:spPr>
          <a:xfrm>
            <a:off x="576072" y="588110"/>
            <a:ext cx="72146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Problem Statement -</a:t>
            </a:r>
            <a:endParaRPr lang="en-IN" sz="2400" b="1" dirty="0"/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2F1C1DA1-EE87-7267-03C3-7FBEF6D8EA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1617" y="5438893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525842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6A77E81F-021A-57FB-C709-7E70756491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7CFCB91-EF22-EB8C-5B0D-4D46021F0245}"/>
              </a:ext>
            </a:extLst>
          </p:cNvPr>
          <p:cNvSpPr txBox="1"/>
          <p:nvPr/>
        </p:nvSpPr>
        <p:spPr>
          <a:xfrm>
            <a:off x="576072" y="1021914"/>
            <a:ext cx="1060704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endParaRPr lang="en-US" b="1" dirty="0"/>
          </a:p>
          <a:p>
            <a:pPr fontAlgn="base"/>
            <a:r>
              <a:rPr lang="en-IN" b="1" dirty="0"/>
              <a:t>Tech Stack (Mandatory)</a:t>
            </a:r>
            <a:r>
              <a:rPr lang="en-IN" dirty="0"/>
              <a:t> </a:t>
            </a:r>
          </a:p>
          <a:p>
            <a:pPr fontAlgn="base"/>
            <a:r>
              <a:rPr lang="en-GB" dirty="0"/>
              <a:t>I used IBM Watsonx.ai + IBM Granite Models + Retrieval-Augmented Generation (RAG)</a:t>
            </a:r>
            <a:endParaRPr lang="en-IN" dirty="0"/>
          </a:p>
          <a:p>
            <a:pPr fontAlgn="base"/>
            <a:endParaRPr lang="en-IN" dirty="0"/>
          </a:p>
          <a:p>
            <a:pPr fontAlgn="base"/>
            <a:endParaRPr lang="en-US" dirty="0"/>
          </a:p>
          <a:p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BD926A1-0833-2949-651F-2AAB4D91A8C9}"/>
              </a:ext>
            </a:extLst>
          </p:cNvPr>
          <p:cNvSpPr txBox="1"/>
          <p:nvPr/>
        </p:nvSpPr>
        <p:spPr>
          <a:xfrm>
            <a:off x="576072" y="704088"/>
            <a:ext cx="72146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Technology Used </a:t>
            </a:r>
            <a:endParaRPr lang="en-IN" sz="2400" b="1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F9A6CBB1-1F91-9132-48AE-7043AA0DD1B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7187592"/>
              </p:ext>
            </p:extLst>
          </p:nvPr>
        </p:nvGraphicFramePr>
        <p:xfrm>
          <a:off x="576071" y="1822133"/>
          <a:ext cx="11136466" cy="4743056"/>
        </p:xfrm>
        <a:graphic>
          <a:graphicData uri="http://schemas.openxmlformats.org/drawingml/2006/table">
            <a:tbl>
              <a:tblPr/>
              <a:tblGrid>
                <a:gridCol w="5568233">
                  <a:extLst>
                    <a:ext uri="{9D8B030D-6E8A-4147-A177-3AD203B41FA5}">
                      <a16:colId xmlns:a16="http://schemas.microsoft.com/office/drawing/2014/main" val="3436375362"/>
                    </a:ext>
                  </a:extLst>
                </a:gridCol>
                <a:gridCol w="5568233">
                  <a:extLst>
                    <a:ext uri="{9D8B030D-6E8A-4147-A177-3AD203B41FA5}">
                      <a16:colId xmlns:a16="http://schemas.microsoft.com/office/drawing/2014/main" val="1264926754"/>
                    </a:ext>
                  </a:extLst>
                </a:gridCol>
              </a:tblGrid>
              <a:tr h="31832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b="1" dirty="0"/>
                        <a:t>Technology</a:t>
                      </a:r>
                    </a:p>
                  </a:txBody>
                  <a:tcPr marL="87611" marR="87611" marT="43805" marB="4380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b="1" dirty="0"/>
                        <a:t>Purpose</a:t>
                      </a:r>
                    </a:p>
                  </a:txBody>
                  <a:tcPr marL="87611" marR="87611" marT="43805" marB="4380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06701159"/>
                  </a:ext>
                </a:extLst>
              </a:tr>
              <a:tr h="54115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b="1" dirty="0"/>
                        <a:t>IBM Watsonx.ai</a:t>
                      </a:r>
                      <a:endParaRPr lang="en-GB" sz="1400" dirty="0"/>
                    </a:p>
                  </a:txBody>
                  <a:tcPr marL="87611" marR="87611" marT="43805" marB="4380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AI development platform used for Prompt Lab experimentation, model access, and document-grounded AI workflows</a:t>
                      </a:r>
                    </a:p>
                  </a:txBody>
                  <a:tcPr marL="87611" marR="87611" marT="43805" marB="4380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17295697"/>
                  </a:ext>
                </a:extLst>
              </a:tr>
              <a:tr h="54115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b="1" dirty="0"/>
                        <a:t>IBM Granite Models</a:t>
                      </a:r>
                      <a:endParaRPr lang="en-GB" sz="1400" dirty="0"/>
                    </a:p>
                  </a:txBody>
                  <a:tcPr marL="87611" marR="87611" marT="43805" marB="4380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Foundation models used for research paper summarization, question answering, and contextual response generation</a:t>
                      </a:r>
                    </a:p>
                  </a:txBody>
                  <a:tcPr marL="87611" marR="87611" marT="43805" marB="4380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5950497"/>
                  </a:ext>
                </a:extLst>
              </a:tr>
              <a:tr h="54115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b="1" dirty="0" err="1"/>
                        <a:t>LangChain</a:t>
                      </a:r>
                      <a:endParaRPr lang="en-GB" sz="1400" dirty="0"/>
                    </a:p>
                  </a:txBody>
                  <a:tcPr marL="87611" marR="87611" marT="43805" marB="4380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Orchestrates document retrieval, prompt management, and RAG workflow</a:t>
                      </a:r>
                    </a:p>
                  </a:txBody>
                  <a:tcPr marL="87611" marR="87611" marT="43805" marB="4380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98512287"/>
                  </a:ext>
                </a:extLst>
              </a:tr>
              <a:tr h="54115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b="1" dirty="0"/>
                        <a:t>FAISS Vector Database</a:t>
                      </a:r>
                      <a:endParaRPr lang="en-GB" sz="1400" dirty="0"/>
                    </a:p>
                  </a:txBody>
                  <a:tcPr marL="87611" marR="87611" marT="43805" marB="4380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Stores document embeddings and performs semantic similarity search</a:t>
                      </a:r>
                    </a:p>
                  </a:txBody>
                  <a:tcPr marL="87611" marR="87611" marT="43805" marB="4380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25564396"/>
                  </a:ext>
                </a:extLst>
              </a:tr>
              <a:tr h="54115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b="1" dirty="0"/>
                        <a:t>RAG (Retrieval-Augmented Generation)</a:t>
                      </a:r>
                      <a:endParaRPr lang="en-GB" sz="1400" dirty="0"/>
                    </a:p>
                  </a:txBody>
                  <a:tcPr marL="87611" marR="87611" marT="43805" marB="4380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Retrieves relevant paper content before generating responses, improving answer relevance and grounding</a:t>
                      </a:r>
                    </a:p>
                  </a:txBody>
                  <a:tcPr marL="87611" marR="87611" marT="43805" marB="4380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98810816"/>
                  </a:ext>
                </a:extLst>
              </a:tr>
              <a:tr h="31832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b="1"/>
                        <a:t>Python</a:t>
                      </a:r>
                      <a:endParaRPr lang="en-GB" sz="1400"/>
                    </a:p>
                  </a:txBody>
                  <a:tcPr marL="87611" marR="87611" marT="43805" marB="4380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Core programming language used for backend development</a:t>
                      </a:r>
                    </a:p>
                  </a:txBody>
                  <a:tcPr marL="87611" marR="87611" marT="43805" marB="4380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62509667"/>
                  </a:ext>
                </a:extLst>
              </a:tr>
              <a:tr h="54115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b="1"/>
                        <a:t>Flask</a:t>
                      </a:r>
                      <a:endParaRPr lang="en-GB" sz="1400"/>
                    </a:p>
                  </a:txBody>
                  <a:tcPr marL="87611" marR="87611" marT="43805" marB="4380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Lightweight web framework used to build the ResearchPilot application</a:t>
                      </a:r>
                    </a:p>
                  </a:txBody>
                  <a:tcPr marL="87611" marR="87611" marT="43805" marB="4380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20957016"/>
                  </a:ext>
                </a:extLst>
              </a:tr>
              <a:tr h="31832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b="1"/>
                        <a:t>HTML / CSS / JavaScript</a:t>
                      </a:r>
                      <a:endParaRPr lang="en-GB" sz="1400"/>
                    </a:p>
                  </a:txBody>
                  <a:tcPr marL="87611" marR="87611" marT="43805" marB="4380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Frontend technologies used for the user interface</a:t>
                      </a:r>
                    </a:p>
                  </a:txBody>
                  <a:tcPr marL="87611" marR="87611" marT="43805" marB="4380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92607037"/>
                  </a:ext>
                </a:extLst>
              </a:tr>
              <a:tr h="54115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b="1" dirty="0" err="1"/>
                        <a:t>HuggingFace</a:t>
                      </a:r>
                      <a:r>
                        <a:rPr lang="en-GB" sz="1400" b="1" dirty="0"/>
                        <a:t> Embeddings</a:t>
                      </a:r>
                      <a:endParaRPr lang="en-GB" sz="1400" dirty="0"/>
                    </a:p>
                  </a:txBody>
                  <a:tcPr marL="87611" marR="87611" marT="43805" marB="4380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Converts document chunks into vector embeddings for semantic search</a:t>
                      </a:r>
                    </a:p>
                  </a:txBody>
                  <a:tcPr marL="87611" marR="87611" marT="43805" marB="4380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474308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184672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0471B467-61AA-7BCA-460D-43041E805F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A1BF701-ABCA-4DF0-8330-B6AF71EF8E39}"/>
              </a:ext>
            </a:extLst>
          </p:cNvPr>
          <p:cNvSpPr txBox="1"/>
          <p:nvPr/>
        </p:nvSpPr>
        <p:spPr>
          <a:xfrm>
            <a:off x="576072" y="873246"/>
            <a:ext cx="11526885" cy="60631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endParaRPr lang="en-US" b="1" dirty="0"/>
          </a:p>
          <a:p>
            <a:r>
              <a:rPr lang="en-US" sz="1500" b="1" dirty="0"/>
              <a:t>Proposed Solution: </a:t>
            </a:r>
            <a:r>
              <a:rPr lang="en-GB" sz="1500" b="1" dirty="0" err="1"/>
              <a:t>ResearchPilot</a:t>
            </a:r>
            <a:r>
              <a:rPr lang="en-GB" sz="1500" b="1" dirty="0"/>
              <a:t> – AI-Powered Research Agent</a:t>
            </a:r>
          </a:p>
          <a:p>
            <a:endParaRPr lang="en-US" sz="1500" b="1" dirty="0"/>
          </a:p>
          <a:p>
            <a:r>
              <a:rPr lang="en-US" sz="1500" dirty="0" err="1"/>
              <a:t>ResearchPilot</a:t>
            </a:r>
            <a:r>
              <a:rPr lang="en-US" sz="1500" dirty="0"/>
              <a:t> is an AI-powered Research Agent developed using </a:t>
            </a:r>
            <a:r>
              <a:rPr lang="en-US" sz="1500" b="1" dirty="0"/>
              <a:t>IBM Watsonx.ai, IBM Granite Foundation Models, and Retrieval-Augmented Generation (RAG)</a:t>
            </a:r>
            <a:r>
              <a:rPr lang="en-US" sz="1500" dirty="0"/>
              <a:t> to simplify academic research and literature exploration.</a:t>
            </a:r>
          </a:p>
          <a:p>
            <a:endParaRPr lang="en-US" sz="1500" dirty="0"/>
          </a:p>
          <a:p>
            <a:r>
              <a:rPr lang="en-US" sz="1500" dirty="0"/>
              <a:t>The system enables users to upload research papers, automatically process document content, perform semantic search, and receive contextual answers grounded in the uploaded </a:t>
            </a:r>
            <a:r>
              <a:rPr lang="en-US" sz="1500" dirty="0" err="1"/>
              <a:t>documents.At</a:t>
            </a:r>
            <a:r>
              <a:rPr lang="en-US" sz="1500" dirty="0"/>
              <a:t> its core, </a:t>
            </a:r>
            <a:r>
              <a:rPr lang="en-US" sz="1500" dirty="0" err="1"/>
              <a:t>ResearchPilot</a:t>
            </a:r>
            <a:r>
              <a:rPr lang="en-US" sz="1500" dirty="0"/>
              <a:t> uses a </a:t>
            </a:r>
            <a:r>
              <a:rPr lang="en-US" sz="1500" b="1" dirty="0"/>
              <a:t>Retrieval-Augmented Generation (RAG)</a:t>
            </a:r>
            <a:r>
              <a:rPr lang="en-US" sz="1500" dirty="0"/>
              <a:t> workflow. Research papers are converted into vector embeddings and stored in a FAISS vector database. When a user submits a query, the system retrieves the most relevant document sections and provides them as context to IBM Granite models for answer generation.</a:t>
            </a:r>
          </a:p>
          <a:p>
            <a:r>
              <a:rPr lang="en-US" sz="1500" b="1" dirty="0"/>
              <a:t>Core Functionalities:</a:t>
            </a:r>
          </a:p>
          <a:p>
            <a:endParaRPr lang="en-US" sz="1500" b="1" dirty="0"/>
          </a:p>
          <a:p>
            <a:r>
              <a:rPr lang="en-US" sz="1500" b="1" dirty="0"/>
              <a:t>Research Paper Analysis</a:t>
            </a:r>
            <a:br>
              <a:rPr lang="en-US" sz="1500" dirty="0"/>
            </a:br>
            <a:r>
              <a:rPr lang="en-US" sz="1500" dirty="0"/>
              <a:t>Automatically processes and indexes uploaded research papers for intelligent retrieval.</a:t>
            </a:r>
          </a:p>
          <a:p>
            <a:r>
              <a:rPr lang="en-US" sz="1500" b="1" dirty="0"/>
              <a:t>Research Summarization</a:t>
            </a:r>
            <a:br>
              <a:rPr lang="en-US" sz="1500" dirty="0"/>
            </a:br>
            <a:r>
              <a:rPr lang="en-US" sz="1500" dirty="0"/>
              <a:t>Generates concise summaries of research papers, helping users quickly understand key contributions and findings.</a:t>
            </a:r>
          </a:p>
          <a:p>
            <a:r>
              <a:rPr lang="en-US" sz="1500" b="1" dirty="0"/>
              <a:t>Question Answering System</a:t>
            </a:r>
            <a:br>
              <a:rPr lang="en-US" sz="1500" dirty="0"/>
            </a:br>
            <a:r>
              <a:rPr lang="en-US" sz="1500" dirty="0"/>
              <a:t>Allows users to ask natural language questions and receive contextual answers based on document content.</a:t>
            </a:r>
          </a:p>
          <a:p>
            <a:r>
              <a:rPr lang="en-US" sz="1500" b="1" dirty="0"/>
              <a:t>Methodology &amp; Insight Extraction</a:t>
            </a:r>
            <a:br>
              <a:rPr lang="en-US" sz="1500" dirty="0"/>
            </a:br>
            <a:r>
              <a:rPr lang="en-US" sz="1500" dirty="0"/>
              <a:t>Identifies research methodologies, key findings, and future research directions from academic papers.</a:t>
            </a:r>
          </a:p>
          <a:p>
            <a:r>
              <a:rPr lang="en-US" sz="1500" b="1" dirty="0"/>
              <a:t>Multi-Document Retrieval</a:t>
            </a:r>
            <a:br>
              <a:rPr lang="en-US" sz="1500" dirty="0"/>
            </a:br>
            <a:r>
              <a:rPr lang="en-US" sz="1500" dirty="0"/>
              <a:t>Supports retrieval of relevant information across multiple research papers using semantic search.</a:t>
            </a:r>
          </a:p>
          <a:p>
            <a:r>
              <a:rPr lang="en-US" sz="1500" b="1" dirty="0"/>
              <a:t>Evidence-Based Responses</a:t>
            </a:r>
            <a:br>
              <a:rPr lang="en-US" sz="1500" dirty="0"/>
            </a:br>
            <a:r>
              <a:rPr lang="en-US" sz="1500" dirty="0"/>
              <a:t>Displays retrieved evidence and source references, improving transparency and trustworthiness.</a:t>
            </a:r>
            <a:endParaRPr lang="en-US" dirty="0"/>
          </a:p>
          <a:p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27F30CC-07EF-8FCC-DA00-C9212F5DAECE}"/>
              </a:ext>
            </a:extLst>
          </p:cNvPr>
          <p:cNvSpPr txBox="1"/>
          <p:nvPr/>
        </p:nvSpPr>
        <p:spPr>
          <a:xfrm>
            <a:off x="576072" y="601346"/>
            <a:ext cx="72146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Proposed Solution -</a:t>
            </a:r>
            <a:endParaRPr lang="en-IN" sz="2400" b="1" dirty="0"/>
          </a:p>
        </p:txBody>
      </p:sp>
    </p:spTree>
    <p:extLst>
      <p:ext uri="{BB962C8B-B14F-4D97-AF65-F5344CB8AC3E}">
        <p14:creationId xmlns:p14="http://schemas.microsoft.com/office/powerpoint/2010/main" val="22902949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">
          <a:extLst>
            <a:ext uri="{FF2B5EF4-FFF2-40B4-BE49-F238E27FC236}">
              <a16:creationId xmlns:a16="http://schemas.microsoft.com/office/drawing/2014/main" id="{CDF2A78E-5A0E-6814-8AF4-0AE54B0366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5">
            <a:extLst>
              <a:ext uri="{FF2B5EF4-FFF2-40B4-BE49-F238E27FC236}">
                <a16:creationId xmlns:a16="http://schemas.microsoft.com/office/drawing/2014/main" id="{2A145802-2DD3-EEBA-7D44-210C05B98C91}"/>
              </a:ext>
            </a:extLst>
          </p:cNvPr>
          <p:cNvSpPr/>
          <p:nvPr/>
        </p:nvSpPr>
        <p:spPr>
          <a:xfrm>
            <a:off x="537590" y="323239"/>
            <a:ext cx="5908929" cy="4485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r>
              <a:rPr lang="en-US" sz="2400" b="1" dirty="0">
                <a:sym typeface="Times New Roman"/>
              </a:rPr>
              <a:t>System</a:t>
            </a:r>
            <a:r>
              <a:rPr lang="en-US" sz="3500" b="1" i="0" u="none" strike="noStrike" cap="none" dirty="0">
                <a:solidFill>
                  <a:srgbClr val="051D3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b="1" dirty="0">
                <a:sym typeface="Times New Roman"/>
              </a:rPr>
              <a:t>component Used -</a:t>
            </a:r>
            <a:endParaRPr sz="2400" b="1" dirty="0">
              <a:sym typeface="Times New Roman"/>
            </a:endParaRPr>
          </a:p>
        </p:txBody>
      </p:sp>
      <p:sp>
        <p:nvSpPr>
          <p:cNvPr id="148" name="Google Shape;148;p5">
            <a:extLst>
              <a:ext uri="{FF2B5EF4-FFF2-40B4-BE49-F238E27FC236}">
                <a16:creationId xmlns:a16="http://schemas.microsoft.com/office/drawing/2014/main" id="{69E3EADC-1EAD-7419-145C-20998925206E}"/>
              </a:ext>
            </a:extLst>
          </p:cNvPr>
          <p:cNvSpPr/>
          <p:nvPr/>
        </p:nvSpPr>
        <p:spPr>
          <a:xfrm>
            <a:off x="2264331" y="6784578"/>
            <a:ext cx="2140744" cy="224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937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9" name="Google Shape;149;p5">
            <a:extLst>
              <a:ext uri="{FF2B5EF4-FFF2-40B4-BE49-F238E27FC236}">
                <a16:creationId xmlns:a16="http://schemas.microsoft.com/office/drawing/2014/main" id="{04E5872A-C331-C8F3-5D71-8E953BAAFE03}"/>
              </a:ext>
            </a:extLst>
          </p:cNvPr>
          <p:cNvSpPr/>
          <p:nvPr/>
        </p:nvSpPr>
        <p:spPr>
          <a:xfrm>
            <a:off x="1782604" y="7100213"/>
            <a:ext cx="3104198" cy="731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0" name="Google Shape;150;p5">
            <a:extLst>
              <a:ext uri="{FF2B5EF4-FFF2-40B4-BE49-F238E27FC236}">
                <a16:creationId xmlns:a16="http://schemas.microsoft.com/office/drawing/2014/main" id="{76EF3801-5D99-5EFA-9AA2-AD265775E354}"/>
              </a:ext>
            </a:extLst>
          </p:cNvPr>
          <p:cNvSpPr/>
          <p:nvPr/>
        </p:nvSpPr>
        <p:spPr>
          <a:xfrm>
            <a:off x="5732383" y="6784578"/>
            <a:ext cx="1793915" cy="224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937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1" name="Google Shape;151;p5">
            <a:extLst>
              <a:ext uri="{FF2B5EF4-FFF2-40B4-BE49-F238E27FC236}">
                <a16:creationId xmlns:a16="http://schemas.microsoft.com/office/drawing/2014/main" id="{DAD76A8A-9F2C-9EA9-25E9-40CD0FFAA869}"/>
              </a:ext>
            </a:extLst>
          </p:cNvPr>
          <p:cNvSpPr/>
          <p:nvPr/>
        </p:nvSpPr>
        <p:spPr>
          <a:xfrm>
            <a:off x="5077301" y="7100213"/>
            <a:ext cx="3104198" cy="731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2" name="Google Shape;152;p5">
            <a:extLst>
              <a:ext uri="{FF2B5EF4-FFF2-40B4-BE49-F238E27FC236}">
                <a16:creationId xmlns:a16="http://schemas.microsoft.com/office/drawing/2014/main" id="{8D9C4260-2673-337C-C898-4C22E0F8FD65}"/>
              </a:ext>
            </a:extLst>
          </p:cNvPr>
          <p:cNvSpPr/>
          <p:nvPr/>
        </p:nvSpPr>
        <p:spPr>
          <a:xfrm>
            <a:off x="9027081" y="6784578"/>
            <a:ext cx="1793915" cy="224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937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3" name="Google Shape;153;p5">
            <a:extLst>
              <a:ext uri="{FF2B5EF4-FFF2-40B4-BE49-F238E27FC236}">
                <a16:creationId xmlns:a16="http://schemas.microsoft.com/office/drawing/2014/main" id="{6167C3C6-3747-E373-84C3-3927C443B067}"/>
              </a:ext>
            </a:extLst>
          </p:cNvPr>
          <p:cNvSpPr/>
          <p:nvPr/>
        </p:nvSpPr>
        <p:spPr>
          <a:xfrm>
            <a:off x="8371999" y="7100213"/>
            <a:ext cx="3104198" cy="731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BB86949-7ED1-C43B-B1E3-5122BB67A596}"/>
              </a:ext>
            </a:extLst>
          </p:cNvPr>
          <p:cNvSpPr txBox="1"/>
          <p:nvPr/>
        </p:nvSpPr>
        <p:spPr>
          <a:xfrm>
            <a:off x="474822" y="863187"/>
            <a:ext cx="11402104" cy="73558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pPr>
              <a:lnSpc>
                <a:spcPct val="150000"/>
              </a:lnSpc>
            </a:pPr>
            <a:r>
              <a:rPr lang="en-GB" sz="1600" b="1" dirty="0"/>
              <a:t>1) Research Paper Upload Module</a:t>
            </a:r>
            <a:br>
              <a:rPr lang="en-GB" sz="1600" dirty="0"/>
            </a:br>
            <a:r>
              <a:rPr lang="en-GB" sz="1600" dirty="0"/>
              <a:t>Allows users to upload academic research papers in PDF format for analysis, indexing, and retrieval.</a:t>
            </a:r>
          </a:p>
          <a:p>
            <a:pPr>
              <a:lnSpc>
                <a:spcPct val="150000"/>
              </a:lnSpc>
            </a:pPr>
            <a:r>
              <a:rPr lang="en-GB" sz="1600" b="1" dirty="0"/>
              <a:t>2) IBM Watsonx.ai Platform</a:t>
            </a:r>
            <a:br>
              <a:rPr lang="en-GB" sz="1600" dirty="0"/>
            </a:br>
            <a:r>
              <a:rPr lang="en-GB" sz="1600" dirty="0"/>
              <a:t>Used for Prompt Lab experimentation, document grounding, model access, and AI workflow development.</a:t>
            </a:r>
          </a:p>
          <a:p>
            <a:pPr>
              <a:lnSpc>
                <a:spcPct val="150000"/>
              </a:lnSpc>
            </a:pPr>
            <a:r>
              <a:rPr lang="en-GB" sz="1600" b="1" dirty="0"/>
              <a:t>3) IBM Granite Model (</a:t>
            </a:r>
            <a:r>
              <a:rPr lang="en-GB" sz="1600" b="1" dirty="0" err="1"/>
              <a:t>ibm</a:t>
            </a:r>
            <a:r>
              <a:rPr lang="en-GB" sz="1600" b="1" dirty="0"/>
              <a:t>/granite-8b-code-instruct)</a:t>
            </a:r>
            <a:br>
              <a:rPr lang="en-GB" sz="1600" dirty="0"/>
            </a:br>
            <a:r>
              <a:rPr lang="en-GB" sz="1600" dirty="0"/>
              <a:t>Foundation model used for research paper summarization, question answering, methodology extraction, and contextual response generation.</a:t>
            </a:r>
          </a:p>
          <a:p>
            <a:pPr>
              <a:lnSpc>
                <a:spcPct val="150000"/>
              </a:lnSpc>
            </a:pPr>
            <a:r>
              <a:rPr lang="en-GB" sz="1600" b="1" dirty="0"/>
              <a:t>4) Retrieval-Augmented Generation (RAG) Engine</a:t>
            </a:r>
            <a:br>
              <a:rPr lang="en-GB" sz="1600" dirty="0"/>
            </a:br>
            <a:r>
              <a:rPr lang="en-GB" sz="1600" dirty="0"/>
              <a:t>Retrieves relevant information from uploaded research papers before generating responses, ensuring document-grounded and evidence-based answers.</a:t>
            </a:r>
          </a:p>
          <a:p>
            <a:pPr>
              <a:lnSpc>
                <a:spcPct val="150000"/>
              </a:lnSpc>
            </a:pPr>
            <a:r>
              <a:rPr lang="en-GB" sz="1600" b="1" dirty="0"/>
              <a:t>5) FAISS Vector Database</a:t>
            </a:r>
            <a:br>
              <a:rPr lang="en-GB" sz="1600" dirty="0"/>
            </a:br>
            <a:r>
              <a:rPr lang="en-GB" sz="1600" dirty="0"/>
              <a:t>Stores document embeddings and performs semantic similarity search to retrieve the most relevant research content.</a:t>
            </a:r>
          </a:p>
          <a:p>
            <a:pPr>
              <a:lnSpc>
                <a:spcPct val="150000"/>
              </a:lnSpc>
            </a:pPr>
            <a:r>
              <a:rPr lang="en-GB" sz="1600" b="1" dirty="0"/>
              <a:t>6) Research Question Answering Interface</a:t>
            </a:r>
            <a:br>
              <a:rPr lang="en-GB" sz="1600" dirty="0"/>
            </a:br>
            <a:r>
              <a:rPr lang="en-GB" sz="1600" dirty="0"/>
              <a:t>Provides an interactive interface where users can ask natural language questions and receive contextual answers with supporting evidence.</a:t>
            </a:r>
            <a:endParaRPr lang="en-US" sz="1600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85263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35;p5">
            <a:extLst>
              <a:ext uri="{FF2B5EF4-FFF2-40B4-BE49-F238E27FC236}">
                <a16:creationId xmlns:a16="http://schemas.microsoft.com/office/drawing/2014/main" id="{78578745-3233-E2C4-2AF4-55BA57C68D3F}"/>
              </a:ext>
            </a:extLst>
          </p:cNvPr>
          <p:cNvSpPr/>
          <p:nvPr/>
        </p:nvSpPr>
        <p:spPr>
          <a:xfrm>
            <a:off x="537590" y="323239"/>
            <a:ext cx="5965952" cy="5397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/>
            <a:r>
              <a:rPr lang="en-US" sz="2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Screenshots</a:t>
            </a:r>
            <a:endParaRPr lang="en-US" sz="2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B3958E5-4526-86E2-CDCE-64868E2768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3923" y="1138560"/>
            <a:ext cx="10284154" cy="458087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>
          <a:extLst>
            <a:ext uri="{FF2B5EF4-FFF2-40B4-BE49-F238E27FC236}">
              <a16:creationId xmlns:a16="http://schemas.microsoft.com/office/drawing/2014/main" id="{0CA4C993-2633-AC7C-F43D-ECC5159513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35;p5">
            <a:extLst>
              <a:ext uri="{FF2B5EF4-FFF2-40B4-BE49-F238E27FC236}">
                <a16:creationId xmlns:a16="http://schemas.microsoft.com/office/drawing/2014/main" id="{2BB4F565-5689-4EDD-2674-C03A036BDA3F}"/>
              </a:ext>
            </a:extLst>
          </p:cNvPr>
          <p:cNvSpPr/>
          <p:nvPr/>
        </p:nvSpPr>
        <p:spPr>
          <a:xfrm>
            <a:off x="537590" y="323239"/>
            <a:ext cx="5965952" cy="5397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/>
            <a:r>
              <a:rPr lang="en-US" sz="2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Screenshots</a:t>
            </a:r>
            <a:endParaRPr lang="en-US" sz="24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1307154-D868-ED7E-071A-714003F3A5D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6345" r="17534"/>
          <a:stretch>
            <a:fillRect/>
          </a:stretch>
        </p:blipFill>
        <p:spPr>
          <a:xfrm>
            <a:off x="273977" y="1044994"/>
            <a:ext cx="5715857" cy="497566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4A73A90-60A3-137A-ABDB-D1215569EB8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8722" r="9585"/>
          <a:stretch>
            <a:fillRect/>
          </a:stretch>
        </p:blipFill>
        <p:spPr>
          <a:xfrm>
            <a:off x="6287784" y="1044126"/>
            <a:ext cx="5534345" cy="49773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36505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>
          <a:extLst>
            <a:ext uri="{FF2B5EF4-FFF2-40B4-BE49-F238E27FC236}">
              <a16:creationId xmlns:a16="http://schemas.microsoft.com/office/drawing/2014/main" id="{E61560A3-09A4-9C2F-4A5D-366CDBFDEC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35;p5">
            <a:extLst>
              <a:ext uri="{FF2B5EF4-FFF2-40B4-BE49-F238E27FC236}">
                <a16:creationId xmlns:a16="http://schemas.microsoft.com/office/drawing/2014/main" id="{DABD208C-C240-8651-AE13-4862F59CC28F}"/>
              </a:ext>
            </a:extLst>
          </p:cNvPr>
          <p:cNvSpPr/>
          <p:nvPr/>
        </p:nvSpPr>
        <p:spPr>
          <a:xfrm>
            <a:off x="537590" y="323239"/>
            <a:ext cx="5965952" cy="5397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/>
            <a:r>
              <a:rPr lang="en-US" sz="2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Screenshots</a:t>
            </a:r>
            <a:endParaRPr lang="en-US" sz="2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7234980-C67E-9091-C686-55CEFBE734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28800" y="714292"/>
            <a:ext cx="7856989" cy="54294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63247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>
          <a:extLst>
            <a:ext uri="{FF2B5EF4-FFF2-40B4-BE49-F238E27FC236}">
              <a16:creationId xmlns:a16="http://schemas.microsoft.com/office/drawing/2014/main" id="{0225B0EA-AA5B-B10D-9D47-19BCE73780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35;p5">
            <a:extLst>
              <a:ext uri="{FF2B5EF4-FFF2-40B4-BE49-F238E27FC236}">
                <a16:creationId xmlns:a16="http://schemas.microsoft.com/office/drawing/2014/main" id="{D6929F62-C883-A2D1-C574-D4811006A3C9}"/>
              </a:ext>
            </a:extLst>
          </p:cNvPr>
          <p:cNvSpPr/>
          <p:nvPr/>
        </p:nvSpPr>
        <p:spPr>
          <a:xfrm>
            <a:off x="537590" y="323239"/>
            <a:ext cx="5965952" cy="5397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/>
            <a:r>
              <a:rPr lang="en-US" sz="2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Screenshots</a:t>
            </a:r>
            <a:endParaRPr lang="en-US" sz="24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6D77DC1-A0E0-81A8-1D08-E063EF313B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04883" y="863029"/>
            <a:ext cx="7632969" cy="57305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392255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>
          <a:extLst>
            <a:ext uri="{FF2B5EF4-FFF2-40B4-BE49-F238E27FC236}">
              <a16:creationId xmlns:a16="http://schemas.microsoft.com/office/drawing/2014/main" id="{AEC14726-22E2-A216-9F7C-A87887CB42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35;p5">
            <a:extLst>
              <a:ext uri="{FF2B5EF4-FFF2-40B4-BE49-F238E27FC236}">
                <a16:creationId xmlns:a16="http://schemas.microsoft.com/office/drawing/2014/main" id="{20DFA7E4-188B-ABEF-B12E-DA1B4D01C26A}"/>
              </a:ext>
            </a:extLst>
          </p:cNvPr>
          <p:cNvSpPr/>
          <p:nvPr/>
        </p:nvSpPr>
        <p:spPr>
          <a:xfrm>
            <a:off x="537590" y="323239"/>
            <a:ext cx="5965952" cy="5397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/>
            <a:r>
              <a:rPr lang="en-US" sz="2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Screenshots</a:t>
            </a:r>
            <a:endParaRPr lang="en-US" sz="2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1F27FDF-B200-852D-E92D-36B6981030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755" y="863029"/>
            <a:ext cx="9602547" cy="52112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949200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>
          <a:extLst>
            <a:ext uri="{FF2B5EF4-FFF2-40B4-BE49-F238E27FC236}">
              <a16:creationId xmlns:a16="http://schemas.microsoft.com/office/drawing/2014/main" id="{C0CB29A3-7596-72FF-2CB5-AD915D4FFD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35;p5">
            <a:extLst>
              <a:ext uri="{FF2B5EF4-FFF2-40B4-BE49-F238E27FC236}">
                <a16:creationId xmlns:a16="http://schemas.microsoft.com/office/drawing/2014/main" id="{ECDE9E64-2D33-23C8-F02A-8F38E8FD69D9}"/>
              </a:ext>
            </a:extLst>
          </p:cNvPr>
          <p:cNvSpPr/>
          <p:nvPr/>
        </p:nvSpPr>
        <p:spPr>
          <a:xfrm>
            <a:off x="537590" y="323239"/>
            <a:ext cx="5965952" cy="5397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/>
            <a:r>
              <a:rPr lang="en-US" sz="2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Screenshots</a:t>
            </a:r>
            <a:endParaRPr lang="en-US" sz="24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0840B24-1F8C-5163-E1C8-9A8B014B7C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5980" y="1095362"/>
            <a:ext cx="10340039" cy="51484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523239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>
          <a:extLst>
            <a:ext uri="{FF2B5EF4-FFF2-40B4-BE49-F238E27FC236}">
              <a16:creationId xmlns:a16="http://schemas.microsoft.com/office/drawing/2014/main" id="{4241E30F-7320-613D-E1FC-367326F20E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35;p5">
            <a:extLst>
              <a:ext uri="{FF2B5EF4-FFF2-40B4-BE49-F238E27FC236}">
                <a16:creationId xmlns:a16="http://schemas.microsoft.com/office/drawing/2014/main" id="{47FED061-4593-29B6-FA5A-EE9216945EA5}"/>
              </a:ext>
            </a:extLst>
          </p:cNvPr>
          <p:cNvSpPr/>
          <p:nvPr/>
        </p:nvSpPr>
        <p:spPr>
          <a:xfrm>
            <a:off x="537590" y="323239"/>
            <a:ext cx="5908929" cy="4485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/>
            <a:r>
              <a:rPr lang="en-US" sz="2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Architecture blueprint</a:t>
            </a:r>
            <a:endParaRPr lang="en-US" sz="24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AC99785-8386-4110-920D-B5ABB6EA5E6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1354"/>
          <a:stretch>
            <a:fillRect/>
          </a:stretch>
        </p:blipFill>
        <p:spPr>
          <a:xfrm>
            <a:off x="1291547" y="1001606"/>
            <a:ext cx="9362754" cy="55331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878179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>
          <a:extLst>
            <a:ext uri="{FF2B5EF4-FFF2-40B4-BE49-F238E27FC236}">
              <a16:creationId xmlns:a16="http://schemas.microsoft.com/office/drawing/2014/main" id="{881662F5-9865-C6CC-1ED7-0C100346E6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35;p5">
            <a:extLst>
              <a:ext uri="{FF2B5EF4-FFF2-40B4-BE49-F238E27FC236}">
                <a16:creationId xmlns:a16="http://schemas.microsoft.com/office/drawing/2014/main" id="{0B77E518-FE52-6194-394A-AF9B5B16092A}"/>
              </a:ext>
            </a:extLst>
          </p:cNvPr>
          <p:cNvSpPr/>
          <p:nvPr/>
        </p:nvSpPr>
        <p:spPr>
          <a:xfrm>
            <a:off x="537590" y="323239"/>
            <a:ext cx="5908929" cy="4485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/>
            <a:r>
              <a:rPr lang="en-US" sz="2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Token Usage</a:t>
            </a:r>
            <a:endParaRPr lang="en-US" sz="2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9FB82C8-326D-C1C1-CF2B-38CEDC3F5A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7590" y="1210842"/>
            <a:ext cx="10706012" cy="48714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543507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>
          <a:extLst>
            <a:ext uri="{FF2B5EF4-FFF2-40B4-BE49-F238E27FC236}">
              <a16:creationId xmlns:a16="http://schemas.microsoft.com/office/drawing/2014/main" id="{9E1DCBDA-E3A6-3EAD-F711-4F6390AA34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CA744DA-69E5-A2CF-B324-BAAC50E6828B}"/>
              </a:ext>
            </a:extLst>
          </p:cNvPr>
          <p:cNvSpPr txBox="1"/>
          <p:nvPr/>
        </p:nvSpPr>
        <p:spPr>
          <a:xfrm>
            <a:off x="626311" y="484632"/>
            <a:ext cx="7123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Novelty and Uniqueness</a:t>
            </a:r>
            <a:endParaRPr lang="en-IN" sz="2400" b="1" dirty="0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9AA254B8-9EB5-1284-81A6-BB544191AAA9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626311" y="1201276"/>
            <a:ext cx="11343081" cy="42473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1800" dirty="0" err="1"/>
              <a:t>ResearchPilot</a:t>
            </a:r>
            <a:r>
              <a:rPr lang="en-US" sz="1800" dirty="0"/>
              <a:t> combines </a:t>
            </a:r>
            <a:r>
              <a:rPr lang="en-US" sz="1800" b="1" dirty="0"/>
              <a:t>IBM Watsonx.ai, IBM Granite Foundation Models, and Retrieval-Augmented Generation (RAG)</a:t>
            </a:r>
            <a:r>
              <a:rPr lang="en-US" sz="1800" dirty="0"/>
              <a:t> to create an intelligent research assistant for academic paper analysis.</a:t>
            </a:r>
          </a:p>
          <a:p>
            <a:endParaRPr lang="en-US" sz="1800" dirty="0"/>
          </a:p>
          <a:p>
            <a:r>
              <a:rPr lang="en-US" sz="1800" b="1" dirty="0"/>
              <a:t>Document-Grounded Responses</a:t>
            </a:r>
            <a:r>
              <a:rPr lang="en-US" sz="1800" dirty="0"/>
              <a:t> – Answers are generated using content retrieved directly from uploaded research papers, improving relevance and reliability. </a:t>
            </a:r>
          </a:p>
          <a:p>
            <a:r>
              <a:rPr lang="en-US" sz="1800" b="1" dirty="0"/>
              <a:t>Semantic Research Search</a:t>
            </a:r>
            <a:r>
              <a:rPr lang="en-US" sz="1800" dirty="0"/>
              <a:t> – Uses vector embeddings and FAISS to locate meaningful information based on context rather than simple keyword matching. </a:t>
            </a:r>
          </a:p>
          <a:p>
            <a:r>
              <a:rPr lang="en-US" sz="1800" b="1" dirty="0"/>
              <a:t>Multi-Paper Knowledge Discovery</a:t>
            </a:r>
            <a:r>
              <a:rPr lang="en-US" sz="1800" dirty="0"/>
              <a:t> – Enables users to explore, compare, and analyze insights across multiple research papers. </a:t>
            </a:r>
          </a:p>
          <a:p>
            <a:r>
              <a:rPr lang="en-US" sz="1800" b="1" dirty="0"/>
              <a:t>Evidence-Based AI Responses</a:t>
            </a:r>
            <a:r>
              <a:rPr lang="en-US" sz="1800" dirty="0"/>
              <a:t> – Displays retrieved document sections and source references to enhance transparency and trust. </a:t>
            </a:r>
          </a:p>
          <a:p>
            <a:r>
              <a:rPr lang="en-US" sz="1800" b="1" dirty="0"/>
              <a:t>Research-Focused Assistance</a:t>
            </a:r>
            <a:r>
              <a:rPr lang="en-US" sz="1800" dirty="0"/>
              <a:t> – Supports paper summarization, methodology extraction, literature exploration, and question answering through a single interface. </a:t>
            </a:r>
          </a:p>
          <a:p>
            <a:r>
              <a:rPr lang="en-US" sz="1800" b="1" dirty="0"/>
              <a:t>IBM Granite Integration</a:t>
            </a:r>
            <a:r>
              <a:rPr lang="en-US" sz="1800" dirty="0"/>
              <a:t> – Leverages IBM Granite models via Watsonx.ai to generate contextual research insights and explanations.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B971F06-B6B7-DAE4-E9D4-7CE0D5251CD0}"/>
              </a:ext>
            </a:extLst>
          </p:cNvPr>
          <p:cNvSpPr txBox="1"/>
          <p:nvPr/>
        </p:nvSpPr>
        <p:spPr>
          <a:xfrm>
            <a:off x="626311" y="5448593"/>
            <a:ext cx="10007443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800" b="1" dirty="0"/>
              <a:t>Outcome</a:t>
            </a:r>
          </a:p>
          <a:p>
            <a:pPr>
              <a:buNone/>
            </a:pPr>
            <a:r>
              <a:rPr lang="en-US" sz="1800" dirty="0" err="1"/>
              <a:t>ResearchPilot</a:t>
            </a:r>
            <a:r>
              <a:rPr lang="en-US" sz="1800" dirty="0"/>
              <a:t> transforms traditional research paper reading into an interactive AI-assisted experience, helping students and researchers save time, discover insights faster, and better understand complex academic content.</a:t>
            </a:r>
          </a:p>
        </p:txBody>
      </p:sp>
    </p:spTree>
    <p:extLst>
      <p:ext uri="{BB962C8B-B14F-4D97-AF65-F5344CB8AC3E}">
        <p14:creationId xmlns:p14="http://schemas.microsoft.com/office/powerpoint/2010/main" val="131894174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>
          <a:extLst>
            <a:ext uri="{FF2B5EF4-FFF2-40B4-BE49-F238E27FC236}">
              <a16:creationId xmlns:a16="http://schemas.microsoft.com/office/drawing/2014/main" id="{55016524-E738-3D8C-3BB2-B0BE7C6653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>
            <a:extLst>
              <a:ext uri="{FF2B5EF4-FFF2-40B4-BE49-F238E27FC236}">
                <a16:creationId xmlns:a16="http://schemas.microsoft.com/office/drawing/2014/main" id="{D62F03A8-A8A8-CB93-006E-7173DC866F6F}"/>
              </a:ext>
            </a:extLst>
          </p:cNvPr>
          <p:cNvSpPr/>
          <p:nvPr/>
        </p:nvSpPr>
        <p:spPr>
          <a:xfrm>
            <a:off x="1218724" y="420729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r>
              <a:rPr lang="en-US" sz="2400" b="1" dirty="0">
                <a:sym typeface="Times New Roman"/>
              </a:rPr>
              <a:t>Git Hub Link</a:t>
            </a:r>
            <a:endParaRPr sz="2400" b="1" dirty="0">
              <a:sym typeface="Times New Roman"/>
            </a:endParaRPr>
          </a:p>
        </p:txBody>
      </p:sp>
      <p:sp>
        <p:nvSpPr>
          <p:cNvPr id="279" name="Google Shape;279;p18">
            <a:extLst>
              <a:ext uri="{FF2B5EF4-FFF2-40B4-BE49-F238E27FC236}">
                <a16:creationId xmlns:a16="http://schemas.microsoft.com/office/drawing/2014/main" id="{15507A2F-9304-7475-5C74-2BAA93879CFE}"/>
              </a:ext>
            </a:extLst>
          </p:cNvPr>
          <p:cNvSpPr/>
          <p:nvPr/>
        </p:nvSpPr>
        <p:spPr>
          <a:xfrm>
            <a:off x="1218724" y="1153712"/>
            <a:ext cx="9214580" cy="4277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>
              <a:lnSpc>
                <a:spcPct val="162162"/>
              </a:lnSpc>
              <a:buClr>
                <a:srgbClr val="2B3541"/>
              </a:buClr>
              <a:buSzPts val="1850"/>
            </a:pPr>
            <a:r>
              <a:rPr lang="en-US" sz="1850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3"/>
              </a:rPr>
              <a:t>https://github.com/MJKING1276/ResearchPilot-researchagent-ibm</a:t>
            </a: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0" name="Google Shape;280;p18">
            <a:extLst>
              <a:ext uri="{FF2B5EF4-FFF2-40B4-BE49-F238E27FC236}">
                <a16:creationId xmlns:a16="http://schemas.microsoft.com/office/drawing/2014/main" id="{A4423EF4-BB52-2693-03DD-9F7D92D05218}"/>
              </a:ext>
            </a:extLst>
          </p:cNvPr>
          <p:cNvSpPr/>
          <p:nvPr/>
        </p:nvSpPr>
        <p:spPr>
          <a:xfrm>
            <a:off x="1218724" y="3360216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1" name="Google Shape;281;p18">
            <a:extLst>
              <a:ext uri="{FF2B5EF4-FFF2-40B4-BE49-F238E27FC236}">
                <a16:creationId xmlns:a16="http://schemas.microsoft.com/office/drawing/2014/main" id="{FF042814-8077-DBD5-E8B6-E0D870CADB86}"/>
              </a:ext>
            </a:extLst>
          </p:cNvPr>
          <p:cNvSpPr/>
          <p:nvPr/>
        </p:nvSpPr>
        <p:spPr>
          <a:xfrm>
            <a:off x="1218724" y="4395464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2" name="Google Shape;282;p18">
            <a:extLst>
              <a:ext uri="{FF2B5EF4-FFF2-40B4-BE49-F238E27FC236}">
                <a16:creationId xmlns:a16="http://schemas.microsoft.com/office/drawing/2014/main" id="{6A2761AF-8A54-98F2-52C2-794D9BA61C92}"/>
              </a:ext>
            </a:extLst>
          </p:cNvPr>
          <p:cNvSpPr/>
          <p:nvPr/>
        </p:nvSpPr>
        <p:spPr>
          <a:xfrm>
            <a:off x="1218724" y="5430713"/>
            <a:ext cx="7468553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11548487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>
          <a:extLst>
            <a:ext uri="{FF2B5EF4-FFF2-40B4-BE49-F238E27FC236}">
              <a16:creationId xmlns:a16="http://schemas.microsoft.com/office/drawing/2014/main" id="{6FA0F82B-7EE5-EAB0-F470-130BDAC825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>
            <a:extLst>
              <a:ext uri="{FF2B5EF4-FFF2-40B4-BE49-F238E27FC236}">
                <a16:creationId xmlns:a16="http://schemas.microsoft.com/office/drawing/2014/main" id="{0668C6FD-577A-7288-5642-1AFC22BD04F2}"/>
              </a:ext>
            </a:extLst>
          </p:cNvPr>
          <p:cNvSpPr/>
          <p:nvPr/>
        </p:nvSpPr>
        <p:spPr>
          <a:xfrm>
            <a:off x="982418" y="405044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r>
              <a:rPr lang="en-US" sz="2400" b="1" dirty="0">
                <a:sym typeface="Times New Roman"/>
              </a:rPr>
              <a:t>Future Scope </a:t>
            </a:r>
            <a:endParaRPr sz="2400" b="1" dirty="0">
              <a:sym typeface="Times New Roman"/>
            </a:endParaRPr>
          </a:p>
        </p:txBody>
      </p:sp>
      <p:sp>
        <p:nvSpPr>
          <p:cNvPr id="279" name="Google Shape;279;p18">
            <a:extLst>
              <a:ext uri="{FF2B5EF4-FFF2-40B4-BE49-F238E27FC236}">
                <a16:creationId xmlns:a16="http://schemas.microsoft.com/office/drawing/2014/main" id="{EAFA16CB-0A72-5AC5-69A0-ABF4A752B43F}"/>
              </a:ext>
            </a:extLst>
          </p:cNvPr>
          <p:cNvSpPr/>
          <p:nvPr/>
        </p:nvSpPr>
        <p:spPr>
          <a:xfrm>
            <a:off x="982418" y="1109061"/>
            <a:ext cx="10134220" cy="5004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r>
              <a:rPr lang="en-US" sz="1800" b="1" dirty="0"/>
              <a:t>1. Advanced Multi-Document Reasoning</a:t>
            </a:r>
          </a:p>
          <a:p>
            <a:r>
              <a:rPr lang="en-US" sz="1800" dirty="0"/>
              <a:t>Enable deeper analysis and comparison across multiple research papers to generate more comprehensive research insights.</a:t>
            </a:r>
          </a:p>
          <a:p>
            <a:endParaRPr lang="en-US" sz="1800" dirty="0"/>
          </a:p>
          <a:p>
            <a:r>
              <a:rPr lang="en-US" sz="1800" b="1" dirty="0"/>
              <a:t>2. Automatic Citation Generation</a:t>
            </a:r>
          </a:p>
          <a:p>
            <a:r>
              <a:rPr lang="en-US" sz="1800" dirty="0"/>
              <a:t>Provide references and citations directly from source papers to support academic writing and literature reviews.</a:t>
            </a:r>
          </a:p>
          <a:p>
            <a:endParaRPr lang="en-US" sz="1800" dirty="0"/>
          </a:p>
          <a:p>
            <a:r>
              <a:rPr lang="en-US" sz="1800" b="1" dirty="0"/>
              <a:t>3. Enhanced Retrieval Accuracy</a:t>
            </a:r>
          </a:p>
          <a:p>
            <a:r>
              <a:rPr lang="en-US" sz="1800" dirty="0"/>
              <a:t>Implement advanced retrieval and reranking techniques to improve the relevance and quality of generated responses.</a:t>
            </a:r>
          </a:p>
          <a:p>
            <a:endParaRPr lang="en-US" sz="1800" dirty="0"/>
          </a:p>
          <a:p>
            <a:r>
              <a:rPr lang="en-US" sz="1800" b="1" dirty="0"/>
              <a:t>4. Research Trend &amp; Knowledge Visualization</a:t>
            </a:r>
          </a:p>
          <a:p>
            <a:r>
              <a:rPr lang="en-US" sz="1800" dirty="0"/>
              <a:t>Introduce interactive dashboards to visualize research topics, trends, and relationships between papers.</a:t>
            </a:r>
          </a:p>
          <a:p>
            <a:endParaRPr lang="en-US" sz="1800" dirty="0"/>
          </a:p>
          <a:p>
            <a:r>
              <a:rPr lang="en-US" sz="1800" b="1" dirty="0"/>
              <a:t>5. Voice and Multilingual Support</a:t>
            </a:r>
          </a:p>
          <a:p>
            <a:r>
              <a:rPr lang="en-US" sz="1800" dirty="0"/>
              <a:t>Enable voice-based interaction and support for multiple languages to improve accessibility and usability.</a:t>
            </a:r>
          </a:p>
        </p:txBody>
      </p:sp>
      <p:sp>
        <p:nvSpPr>
          <p:cNvPr id="280" name="Google Shape;280;p18">
            <a:extLst>
              <a:ext uri="{FF2B5EF4-FFF2-40B4-BE49-F238E27FC236}">
                <a16:creationId xmlns:a16="http://schemas.microsoft.com/office/drawing/2014/main" id="{B888011B-E4AC-77DB-4A60-BE2C891C49F5}"/>
              </a:ext>
            </a:extLst>
          </p:cNvPr>
          <p:cNvSpPr/>
          <p:nvPr/>
        </p:nvSpPr>
        <p:spPr>
          <a:xfrm>
            <a:off x="1218724" y="3360216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1" name="Google Shape;281;p18">
            <a:extLst>
              <a:ext uri="{FF2B5EF4-FFF2-40B4-BE49-F238E27FC236}">
                <a16:creationId xmlns:a16="http://schemas.microsoft.com/office/drawing/2014/main" id="{91F05971-9256-10B5-6575-4E7C679C6DAA}"/>
              </a:ext>
            </a:extLst>
          </p:cNvPr>
          <p:cNvSpPr/>
          <p:nvPr/>
        </p:nvSpPr>
        <p:spPr>
          <a:xfrm>
            <a:off x="1218724" y="4395464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2" name="Google Shape;282;p18">
            <a:extLst>
              <a:ext uri="{FF2B5EF4-FFF2-40B4-BE49-F238E27FC236}">
                <a16:creationId xmlns:a16="http://schemas.microsoft.com/office/drawing/2014/main" id="{F1C3EBC2-438F-C150-9ABF-F14321C2CC5C}"/>
              </a:ext>
            </a:extLst>
          </p:cNvPr>
          <p:cNvSpPr/>
          <p:nvPr/>
        </p:nvSpPr>
        <p:spPr>
          <a:xfrm>
            <a:off x="1218724" y="5430713"/>
            <a:ext cx="7468553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13670672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0" name="Google Shape;310;p2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2190302"/>
            <a:ext cx="12192000" cy="24773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1225</TotalTime>
  <Words>1108</Words>
  <Application>Microsoft Office PowerPoint</Application>
  <PresentationFormat>Widescreen</PresentationFormat>
  <Paragraphs>126</Paragraphs>
  <Slides>18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Arial</vt:lpstr>
      <vt:lpstr>Calibri</vt:lpstr>
      <vt:lpstr>Times New Roman</vt:lpstr>
      <vt:lpstr>Office Theme</vt:lpstr>
      <vt:lpstr>IBM University Engagement Project Submission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Manda Anirudh</dc:creator>
  <cp:lastModifiedBy>Jhai M</cp:lastModifiedBy>
  <cp:revision>25</cp:revision>
  <dcterms:created xsi:type="dcterms:W3CDTF">2025-07-08T05:06:56Z</dcterms:created>
  <dcterms:modified xsi:type="dcterms:W3CDTF">2026-06-06T16:53:11Z</dcterms:modified>
</cp:coreProperties>
</file>